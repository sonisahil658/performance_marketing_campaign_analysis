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9.xml" ContentType="application/vnd.openxmlformats-officedocument.presentationml.notesSlide+xml"/>
  <Override PartName="/ppt/ink/ink3.xml" ContentType="application/inkml+xml"/>
  <Override PartName="/ppt/theme/themeOverride5.xml" ContentType="application/vnd.openxmlformats-officedocument.themeOverride+xml"/>
  <Override PartName="/ppt/notesSlides/notesSlide10.xml" ContentType="application/vnd.openxmlformats-officedocument.presentationml.notesSlide+xml"/>
  <Override PartName="/ppt/ink/ink4.xml" ContentType="application/inkml+xml"/>
  <Override PartName="/ppt/notesSlides/notesSlide11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12.xml" ContentType="application/vnd.openxmlformats-officedocument.presentationml.notesSlide+xml"/>
  <Override PartName="/ppt/ink/ink5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0" r:id="rId2"/>
    <p:sldId id="256" r:id="rId3"/>
    <p:sldId id="257" r:id="rId4"/>
    <p:sldId id="269" r:id="rId5"/>
    <p:sldId id="258" r:id="rId6"/>
    <p:sldId id="265" r:id="rId7"/>
    <p:sldId id="259" r:id="rId8"/>
    <p:sldId id="260" r:id="rId9"/>
    <p:sldId id="267" r:id="rId10"/>
    <p:sldId id="268" r:id="rId11"/>
    <p:sldId id="261" r:id="rId12"/>
    <p:sldId id="266" r:id="rId13"/>
    <p:sldId id="263" r:id="rId14"/>
    <p:sldId id="262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120"/>
    <a:srgbClr val="1F305B"/>
    <a:srgbClr val="FFC000"/>
    <a:srgbClr val="FF5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49:26.7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49:26.7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49:26.7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49:26.7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0:49:26.7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8192,'0'0'0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995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8AB2B-45F4-ACB7-6BE9-75F745C1B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CA98F-4583-E5E9-F0D7-78071771A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73439-A002-37A7-8A96-4AE4F540A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F1E45-6596-3103-C8C1-CAE4A1E73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87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73D88-9E7E-518D-B63E-C586B7D7A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83112-9276-3C01-B959-970BB2FAB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C9038-F6DE-65CB-5022-36332CAD9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5322C-CDAA-E5F2-EB6B-A7F59C4C0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10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153CE-E222-234A-8778-CB4DB6441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049AA-0834-2E5A-6832-5F4A7CBE12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DAFE68-C269-4379-0F82-C4107E4AE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FDA7A-8BA0-506E-1738-A00CC320C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734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B1C0F-7CC8-53D8-F864-076B45B85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5C052-45C2-6980-7292-A80CB1001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CD1549-9903-FEF4-9C06-7EC92E3B7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468E3-C7C5-AA9B-E128-0CDCB37B5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759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C1081-B3D1-F304-D715-5954A5210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C10C6-6878-803A-35F6-0093B99F6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82C2B1-4762-9B86-0DD1-FA31A85F0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5CD9E-41A9-99D2-E806-36122DA2D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348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34D3A-C6B0-4C96-A977-7DBFE5963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E7C5C5-FAF5-69EB-EA20-AB449F8F9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53C93B-7B4A-6450-A648-2B03F823C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55FF6-BEC7-6754-B68E-8B055AAACA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996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customXml" Target="../ink/ink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customXml" Target="../ink/ink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customXml" Target="../ink/ink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48DE78-D978-4257-7570-CBC59F9D1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2ECDEFC-D3A2-DF40-A325-D4EA9114E00E}"/>
                  </a:ext>
                </a:extLst>
              </p14:cNvPr>
              <p14:cNvContentPartPr/>
              <p14:nvPr/>
            </p14:nvContentPartPr>
            <p14:xfrm>
              <a:off x="33693" y="1395347"/>
              <a:ext cx="360" cy="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2ECDEFC-D3A2-DF40-A325-D4EA9114E0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93" y="1377347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CCDF056-387F-5A9A-9BA3-3826B6B26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23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84048" y="1666348"/>
            <a:ext cx="2011680" cy="713232"/>
          </a:xfrm>
          <a:prstGeom prst="rect">
            <a:avLst/>
          </a:prstGeom>
          <a:solidFill>
            <a:srgbClr val="162A4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6846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</a:rPr>
              <a:t>3.24x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20503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9B8"/>
                </a:solidFill>
              </a:rPr>
              <a:t>Actual ROAS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666348"/>
            <a:ext cx="2011680" cy="713232"/>
          </a:xfrm>
          <a:prstGeom prst="rect">
            <a:avLst/>
          </a:prstGeom>
          <a:solidFill>
            <a:srgbClr val="162A4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6846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4–5x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0" y="20503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9B8"/>
                </a:solidFill>
              </a:rPr>
              <a:t>Target ROAS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517429"/>
            <a:ext cx="4160520" cy="768096"/>
          </a:xfrm>
          <a:prstGeom prst="rect">
            <a:avLst/>
          </a:prstGeom>
          <a:solidFill>
            <a:srgbClr val="1A0A0D"/>
          </a:solidFill>
          <a:ln w="10160">
            <a:solidFill>
              <a:srgbClr val="3A12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4048" y="2507596"/>
            <a:ext cx="64008" cy="76809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5624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📉  ROAS Below Target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" y="28367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</a:rPr>
              <a:t>Stuck at 3.24x vs 4–5x goal.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</a:rPr>
              <a:t>No one knew why it wasn't hitting.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27448" y="2507596"/>
            <a:ext cx="4160520" cy="768096"/>
          </a:xfrm>
          <a:prstGeom prst="rect">
            <a:avLst/>
          </a:prstGeom>
          <a:solidFill>
            <a:srgbClr val="1A0A0D"/>
          </a:solidFill>
          <a:ln w="10160">
            <a:solidFill>
              <a:srgbClr val="3A12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27448" y="2507596"/>
            <a:ext cx="64008" cy="76809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5624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💸  Budget Being Wasted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28367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</a:rPr>
              <a:t>$16,195/month on losing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</a:rPr>
              <a:t>campaigns — silently draining ROI.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3348844"/>
            <a:ext cx="4160520" cy="768096"/>
          </a:xfrm>
          <a:prstGeom prst="rect">
            <a:avLst/>
          </a:prstGeom>
          <a:solidFill>
            <a:srgbClr val="1A0A0D"/>
          </a:solidFill>
          <a:ln w="10160">
            <a:solidFill>
              <a:srgbClr val="3A12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" y="3348844"/>
            <a:ext cx="64008" cy="76809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34037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No Campaign Visibility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" y="36780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</a:rPr>
              <a:t>20 campaigns, no single view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</a:rPr>
              <a:t>of profit vs loss per campaign.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27448" y="3348844"/>
            <a:ext cx="4160520" cy="768096"/>
          </a:xfrm>
          <a:prstGeom prst="rect">
            <a:avLst/>
          </a:prstGeom>
          <a:solidFill>
            <a:srgbClr val="1A0A0D"/>
          </a:solidFill>
          <a:ln w="10160">
            <a:solidFill>
              <a:srgbClr val="3A12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27448" y="3348844"/>
            <a:ext cx="64008" cy="76809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4037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 No Audience Insight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64608" y="36780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</a:rPr>
              <a:t>Zero data on which loan segment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</a:rPr>
              <a:t>or audience converted best.</a:t>
            </a:r>
            <a:endParaRPr lang="en-US" sz="950" dirty="0"/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8C3AA496-12DA-0DA5-0B1B-FDCC439A308A}"/>
              </a:ext>
            </a:extLst>
          </p:cNvPr>
          <p:cNvSpPr/>
          <p:nvPr/>
        </p:nvSpPr>
        <p:spPr>
          <a:xfrm>
            <a:off x="457200" y="268201"/>
            <a:ext cx="1828800" cy="237744"/>
          </a:xfrm>
          <a:prstGeom prst="rect">
            <a:avLst/>
          </a:prstGeom>
          <a:solidFill>
            <a:srgbClr val="E74C3C">
              <a:alpha val="18000"/>
            </a:srgbClr>
          </a:solidFill>
          <a:ln w="1016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3F50CB48-7AA7-1AEC-4CD0-951648C0C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87" y="286321"/>
            <a:ext cx="1828959" cy="262151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EF59C203-C475-3447-DC52-41244A1BCB17}"/>
              </a:ext>
            </a:extLst>
          </p:cNvPr>
          <p:cNvSpPr txBox="1"/>
          <p:nvPr/>
        </p:nvSpPr>
        <p:spPr>
          <a:xfrm>
            <a:off x="384048" y="723857"/>
            <a:ext cx="59547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Business Understanding - 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37744"/>
          </a:xfrm>
          <a:prstGeom prst="rect">
            <a:avLst/>
          </a:prstGeom>
          <a:solidFill>
            <a:srgbClr val="F39C12">
              <a:alpha val="18000"/>
            </a:srgbClr>
          </a:solidFill>
          <a:ln w="1016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39C12"/>
                </a:solidFill>
              </a:rPr>
              <a:t> RAW 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73701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Understanding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2651760" cy="530352"/>
          </a:xfrm>
          <a:prstGeom prst="rect">
            <a:avLst/>
          </a:prstGeom>
          <a:solidFill>
            <a:srgbClr val="162A4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72768"/>
            <a:ext cx="2651760" cy="6400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  Google Ads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572768"/>
            <a:ext cx="2651760" cy="530352"/>
          </a:xfrm>
          <a:prstGeom prst="rect">
            <a:avLst/>
          </a:prstGeom>
          <a:solidFill>
            <a:srgbClr val="162A4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72768"/>
            <a:ext cx="265176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664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  Facebook Ads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938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572768"/>
            <a:ext cx="2651760" cy="530352"/>
          </a:xfrm>
          <a:prstGeom prst="rect">
            <a:avLst/>
          </a:prstGeom>
          <a:solidFill>
            <a:srgbClr val="162A4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572768"/>
            <a:ext cx="265176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664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  TikTok Ads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938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9C12"/>
                </a:solidFill>
              </a:rPr>
              <a:t>↓  Merged into one Master Sheet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15184"/>
            <a:ext cx="8229600" cy="148132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2834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Master Sheet Columns (A → X)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14553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</a:rPr>
              <a:t>EMAIL  |  firstname  |  lastname  |  city  |  state  |  salary  |  employer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34747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</a:rPr>
              <a:t>campaign_name  |  platform  |  Date  |  loan_amount  |  impressions  |  clicks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380390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</a:rPr>
              <a:t>conversions  |  cost  |  revenue  |  ROAS  |  Profit  |  ROI%  |  CTR  |  CPC  |  CPA  |  Conv%  |  Status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AC926-555A-20F5-C230-F757ABCF3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849D93C-C3BC-FA13-322E-BE0D5E30AF83}"/>
                  </a:ext>
                </a:extLst>
              </p14:cNvPr>
              <p14:cNvContentPartPr/>
              <p14:nvPr/>
            </p14:nvContentPartPr>
            <p14:xfrm>
              <a:off x="33693" y="1395347"/>
              <a:ext cx="360" cy="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849D93C-C3BC-FA13-322E-BE0D5E30AF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93" y="1377347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BE6562A-FC03-EA39-19A2-A17F2A4BA5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674" y="696686"/>
            <a:ext cx="8468726" cy="43170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750248-4EA4-E628-9994-CC259F41A99A}"/>
              </a:ext>
            </a:extLst>
          </p:cNvPr>
          <p:cNvSpPr txBox="1"/>
          <p:nvPr/>
        </p:nvSpPr>
        <p:spPr>
          <a:xfrm>
            <a:off x="319674" y="159657"/>
            <a:ext cx="267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Raw Data</a:t>
            </a:r>
          </a:p>
        </p:txBody>
      </p:sp>
    </p:spTree>
    <p:extLst>
      <p:ext uri="{BB962C8B-B14F-4D97-AF65-F5344CB8AC3E}">
        <p14:creationId xmlns:p14="http://schemas.microsoft.com/office/powerpoint/2010/main" val="3007108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37744"/>
          </a:xfrm>
          <a:prstGeom prst="rect">
            <a:avLst/>
          </a:prstGeom>
          <a:solidFill>
            <a:srgbClr val="F39C12">
              <a:alpha val="18000"/>
            </a:srgbClr>
          </a:solidFill>
          <a:ln w="1016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39C12"/>
                </a:solidFill>
              </a:rPr>
              <a:t>DATA CLEANING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74185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Cleaning - What I Fixed Before Any Formula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4160520" cy="93268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35024"/>
            <a:ext cx="64008" cy="9326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389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Currency symbols in numbers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9B8"/>
                </a:solidFill>
              </a:rPr>
              <a:t>=VALUE(SUBSTITUTE(B2,"$",""))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00600" y="1335024"/>
            <a:ext cx="4160520" cy="93268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35024"/>
            <a:ext cx="64008" cy="9326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898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39C12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0" y="1389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Blank Revenue cells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17190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9B8"/>
                </a:solidFill>
              </a:rPr>
              <a:t>=IF(F2="","CHECK","OK")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359152"/>
            <a:ext cx="4160520" cy="93268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59152"/>
            <a:ext cx="64008" cy="9326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4140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2414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  Duplicate rows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2743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9B8"/>
                </a:solidFill>
              </a:rPr>
              <a:t>Data → Remove Duplicates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0600" y="2359152"/>
            <a:ext cx="4160520" cy="93268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359152"/>
            <a:ext cx="64008" cy="9326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4140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39C12"/>
                </a:solidFill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0" y="2414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Inconsistent campaign names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2743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9B8"/>
                </a:solidFill>
              </a:rPr>
              <a:t>=TRIM(PROPER(SUBSTITUTE(A2,"_"," ")))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4160520" cy="93268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383280"/>
            <a:ext cx="64008" cy="9326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4381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0120" y="3438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 Summary rows in raw data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37673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9B8"/>
                </a:solidFill>
              </a:rPr>
              <a:t>Scrolled to bottom → deleted Total row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3383280"/>
            <a:ext cx="4160520" cy="93268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383280"/>
            <a:ext cx="64008" cy="93268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4381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C71"/>
                </a:solidFill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03520" y="3438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  Validated platform totals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0" y="37673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9B8"/>
                </a:solidFill>
              </a:rPr>
              <a:t>=SUMIF(I:I,"Google Ads",O:O)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A5A816-5037-2B6D-C7FD-8A2DE124E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52E06E61-2E3B-BAE6-747D-01642D293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630" y="818189"/>
            <a:ext cx="8360228" cy="418923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EFBC6D8-A7B4-036A-9414-6A6F6DD4BFA6}"/>
              </a:ext>
            </a:extLst>
          </p:cNvPr>
          <p:cNvSpPr txBox="1"/>
          <p:nvPr/>
        </p:nvSpPr>
        <p:spPr>
          <a:xfrm>
            <a:off x="478971" y="254000"/>
            <a:ext cx="222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MASTER_SHEET</a:t>
            </a:r>
          </a:p>
        </p:txBody>
      </p:sp>
    </p:spTree>
    <p:extLst>
      <p:ext uri="{BB962C8B-B14F-4D97-AF65-F5344CB8AC3E}">
        <p14:creationId xmlns:p14="http://schemas.microsoft.com/office/powerpoint/2010/main" val="2147249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37744"/>
          </a:xfrm>
          <a:prstGeom prst="rect">
            <a:avLst/>
          </a:prstGeom>
          <a:solidFill>
            <a:srgbClr val="3498DB">
              <a:alpha val="18000"/>
            </a:srgbClr>
          </a:solidFill>
          <a:ln w="10160">
            <a:solidFill>
              <a:srgbClr val="3498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3498DB"/>
                </a:solidFill>
              </a:rPr>
              <a:t> KPI - CALCULATION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 KPIs Calculated with Excel Formulas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16736"/>
            <a:ext cx="4160520" cy="694944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16736"/>
            <a:ext cx="64008" cy="69494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98DB"/>
                </a:solidFill>
              </a:rPr>
              <a:t>ROAS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3716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9B8"/>
                </a:solidFill>
              </a:rPr>
              <a:t>3.24x avg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FDD"/>
                </a:solidFill>
              </a:rPr>
              <a:t>=IFERROR(G2/E2, 0)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00600" y="1316736"/>
            <a:ext cx="4160520" cy="694944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16736"/>
            <a:ext cx="64008" cy="69494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716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</a:rPr>
              <a:t>Profit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13716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9B8"/>
                </a:solidFill>
              </a:rPr>
              <a:t>$382,003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FDD"/>
                </a:solidFill>
              </a:rPr>
              <a:t>=G2 - E2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4160520" cy="694944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084832"/>
            <a:ext cx="64008" cy="69494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1396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</a:rPr>
              <a:t>ROI 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21396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9B8"/>
                </a:solidFill>
              </a:rPr>
              <a:t>224.48%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24323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FDD"/>
                </a:solidFill>
              </a:rPr>
              <a:t>=IFERROR((G2-E2)/E2*100, 0)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0600" y="2084832"/>
            <a:ext cx="4160520" cy="694944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084832"/>
            <a:ext cx="64008" cy="69494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1396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CTR 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1396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9B8"/>
                </a:solidFill>
              </a:rPr>
              <a:t>Varies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24323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FDD"/>
                </a:solidFill>
              </a:rPr>
              <a:t>=IFERROR(D2/C2*100, 0)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852928"/>
            <a:ext cx="4160520" cy="694944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852928"/>
            <a:ext cx="64008" cy="69494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9077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CPC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29077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9B8"/>
                </a:solidFill>
              </a:rPr>
              <a:t>Per click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FDD"/>
                </a:solidFill>
              </a:rPr>
              <a:t>=IFERROR(E2/D2, 0)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2852928"/>
            <a:ext cx="4160520" cy="694944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2852928"/>
            <a:ext cx="64008" cy="69494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9077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</a:rPr>
              <a:t>CPA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29077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9B8"/>
                </a:solidFill>
              </a:rPr>
              <a:t>Per lead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FDD"/>
                </a:solidFill>
              </a:rPr>
              <a:t>=IFERROR(E2/F2, 0)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3621024"/>
            <a:ext cx="4160520" cy="694944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621024"/>
            <a:ext cx="64008" cy="69494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6758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</a:rPr>
              <a:t>Conv Rate 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920240" y="36758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9B8"/>
                </a:solidFill>
              </a:rPr>
              <a:t>Varies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4360" y="3968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FDD"/>
                </a:solidFill>
              </a:rPr>
              <a:t>=IFERROR(F2/D2*100, 0)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00600" y="3621024"/>
            <a:ext cx="4160520" cy="694944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3621024"/>
            <a:ext cx="64008" cy="69494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6758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Status Flag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63640" y="36758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9B8"/>
                </a:solidFill>
              </a:rPr>
              <a:t>Auto assign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37760" y="3968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FDD"/>
                </a:solidFill>
              </a:rPr>
              <a:t>=IF(H2&gt;=3.5,"SCALE",IF(H2&gt;=3,"MONITOR",IF(H2&gt;=2.5,"OPTIMISE","PAUSE")))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37744"/>
          </a:xfrm>
          <a:prstGeom prst="rect">
            <a:avLst/>
          </a:prstGeom>
          <a:solidFill>
            <a:srgbClr val="9B59B6">
              <a:alpha val="18000"/>
            </a:srgbClr>
          </a:solidFill>
          <a:ln w="1016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59B6"/>
                </a:solidFill>
              </a:rPr>
              <a:t>  PIVOT TABLES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Structure - 3 Pivot Tables — One per Client Question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16736"/>
            <a:ext cx="8229600" cy="987552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16736"/>
            <a:ext cx="64008" cy="98755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98DB"/>
                </a:solidFill>
              </a:rPr>
              <a:t>PT_Campaign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87168" y="137160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Which campaign to scale or pause?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9B8"/>
                </a:solidFill>
              </a:rPr>
              <a:t>ROWS: campaign_name   |   VALUES: Revenue · Cost · Conversions · Profit · ROAS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98DB"/>
                </a:solidFill>
              </a:rPr>
              <a:t>→  Campaign_1 = best (3.76x) · Campaign_20 = worst (2.56x)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8229600" cy="987552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95728"/>
            <a:ext cx="64008" cy="9875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50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</a:rPr>
              <a:t>PT_Platform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87168" y="2450592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Which platform gives best ROI?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74320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9B8"/>
                </a:solidFill>
              </a:rPr>
              <a:t>ROWS: platform   |   VALUES: Revenue · Cost · Conversions · Clicks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9992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C71"/>
                </a:solidFill>
              </a:rPr>
              <a:t>→  Facebook led 39.4% revenue share · TikTok lowest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987552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474720"/>
            <a:ext cx="64008" cy="9875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295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PT_LoanAmt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87168" y="352958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Which audience segment converts best?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82219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9B8"/>
                </a:solidFill>
              </a:rPr>
              <a:t>ROWS: Loan_Bucket   |   VALUES: Revenue · Cost · Conversions · ROAS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407822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</a:rPr>
              <a:t>→  High (501–750) = 3,300 conversions — best segment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FF89BE-36EF-DC54-010F-B0D447770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D0225EB-2210-0DD0-8B62-BBB998B8A9EE}"/>
                  </a:ext>
                </a:extLst>
              </p14:cNvPr>
              <p14:cNvContentPartPr/>
              <p14:nvPr/>
            </p14:nvContentPartPr>
            <p14:xfrm>
              <a:off x="33693" y="1395347"/>
              <a:ext cx="360" cy="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D0225EB-2210-0DD0-8B62-BBB998B8A9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93" y="1377347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01FEDF02-D9B7-DBB0-F236-DF39D2CE8A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460" y="689429"/>
            <a:ext cx="8478454" cy="42599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EA108C-050F-928F-82EC-F822AA1C4809}"/>
              </a:ext>
            </a:extLst>
          </p:cNvPr>
          <p:cNvSpPr txBox="1"/>
          <p:nvPr/>
        </p:nvSpPr>
        <p:spPr>
          <a:xfrm>
            <a:off x="324460" y="178192"/>
            <a:ext cx="197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chemeClr val="bg1"/>
                </a:solidFill>
              </a:rPr>
              <a:t>PT_Campaign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4680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5EF1E-9606-CAC6-FE05-C329611E6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140F87B-3564-DFD7-F200-3D2F2E9A1C3A}"/>
                  </a:ext>
                </a:extLst>
              </p14:cNvPr>
              <p14:cNvContentPartPr/>
              <p14:nvPr/>
            </p14:nvContentPartPr>
            <p14:xfrm>
              <a:off x="33693" y="1395347"/>
              <a:ext cx="360" cy="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140F87B-3564-DFD7-F200-3D2F2E9A1C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93" y="1377347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764910E-C374-01B5-0B8F-E46C19378E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008" y="3081833"/>
            <a:ext cx="8221984" cy="19479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BF8EC3-688E-FE29-5D91-2672EC34CA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008" y="551903"/>
            <a:ext cx="8221984" cy="20751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696016-4414-E903-A856-7CB1DE9FA809}"/>
              </a:ext>
            </a:extLst>
          </p:cNvPr>
          <p:cNvSpPr txBox="1"/>
          <p:nvPr/>
        </p:nvSpPr>
        <p:spPr>
          <a:xfrm>
            <a:off x="461008" y="147119"/>
            <a:ext cx="276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PT_Loan_Amount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DECFD2-1734-7C90-4922-E584ABAFEC53}"/>
              </a:ext>
            </a:extLst>
          </p:cNvPr>
          <p:cNvSpPr txBox="1"/>
          <p:nvPr/>
        </p:nvSpPr>
        <p:spPr>
          <a:xfrm>
            <a:off x="461008" y="2677050"/>
            <a:ext cx="253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PT_Platform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156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37744"/>
          </a:xfrm>
          <a:prstGeom prst="rect">
            <a:avLst/>
          </a:prstGeom>
          <a:solidFill>
            <a:srgbClr val="1ABC9C">
              <a:alpha val="18000"/>
            </a:srgbClr>
          </a:solidFill>
          <a:ln w="1016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BC9C"/>
                </a:solidFill>
              </a:rPr>
              <a:t>KEY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chemeClr val="bg1"/>
                </a:solidFill>
              </a:rPr>
              <a:t>EDA &amp; Segmentation - </a:t>
            </a:r>
            <a:r>
              <a:rPr lang="en-US" sz="2800" b="1" dirty="0">
                <a:solidFill>
                  <a:srgbClr val="FFFFFF"/>
                </a:solidFill>
              </a:rPr>
              <a:t>What the Data Revealed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16736"/>
            <a:ext cx="4160520" cy="292608"/>
          </a:xfrm>
          <a:prstGeom prst="rect">
            <a:avLst/>
          </a:prstGeom>
          <a:solidFill>
            <a:srgbClr val="0A2E1A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1673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C71"/>
                </a:solidFill>
              </a:rPr>
              <a:t>  TOP 5 CAMPAIGNS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82496"/>
            <a:ext cx="4160520" cy="384048"/>
          </a:xfrm>
          <a:prstGeom prst="rect">
            <a:avLst/>
          </a:prstGeom>
          <a:solidFill>
            <a:srgbClr val="0A221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824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1.  Campaign_1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16824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CC71"/>
                </a:solidFill>
              </a:rPr>
              <a:t>3.76x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4160520" cy="384048"/>
          </a:xfrm>
          <a:prstGeom prst="rect">
            <a:avLst/>
          </a:prstGeom>
          <a:solidFill>
            <a:srgbClr val="0A221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214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2.  Campaign_8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21214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CC71"/>
                </a:solidFill>
              </a:rPr>
              <a:t>3.65x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4160520" cy="384048"/>
          </a:xfrm>
          <a:prstGeom prst="rect">
            <a:avLst/>
          </a:prstGeom>
          <a:solidFill>
            <a:srgbClr val="0A221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60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3.  Campaign_6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25603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CC71"/>
                </a:solidFill>
              </a:rPr>
              <a:t>3.56x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99232"/>
            <a:ext cx="4160520" cy="384048"/>
          </a:xfrm>
          <a:prstGeom prst="rect">
            <a:avLst/>
          </a:prstGeom>
          <a:solidFill>
            <a:srgbClr val="0A221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99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4.  Campaign_17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9992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CC71"/>
                </a:solidFill>
              </a:rPr>
              <a:t>3.55x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4160520" cy="384048"/>
          </a:xfrm>
          <a:prstGeom prst="rect">
            <a:avLst/>
          </a:prstGeom>
          <a:solidFill>
            <a:srgbClr val="0A221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381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5.  Campaign_3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34381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CC71"/>
                </a:solidFill>
              </a:rPr>
              <a:t>3.52x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316736"/>
            <a:ext cx="3931920" cy="292608"/>
          </a:xfrm>
          <a:prstGeom prst="rect">
            <a:avLst/>
          </a:prstGeom>
          <a:solidFill>
            <a:srgbClr val="2E0A0A"/>
          </a:solidFill>
          <a:ln w="1016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3167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4C3C"/>
                </a:solidFill>
              </a:rPr>
              <a:t> WORST 5 CAMPAIGNS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682496"/>
            <a:ext cx="3931920" cy="384048"/>
          </a:xfrm>
          <a:prstGeom prst="rect">
            <a:avLst/>
          </a:prstGeom>
          <a:solidFill>
            <a:srgbClr val="1A0808"/>
          </a:solidFill>
          <a:ln w="12700">
            <a:solidFill>
              <a:srgbClr val="3A12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6824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1.  Campaign_20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16824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74C3C"/>
                </a:solidFill>
              </a:rPr>
              <a:t>2.56x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121408"/>
            <a:ext cx="3931920" cy="384048"/>
          </a:xfrm>
          <a:prstGeom prst="rect">
            <a:avLst/>
          </a:prstGeom>
          <a:solidFill>
            <a:srgbClr val="1A0808"/>
          </a:solidFill>
          <a:ln w="12700">
            <a:solidFill>
              <a:srgbClr val="3A12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121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2.  Campaign_14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21214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74C3C"/>
                </a:solidFill>
              </a:rPr>
              <a:t>2.74x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560320"/>
            <a:ext cx="3931920" cy="384048"/>
          </a:xfrm>
          <a:prstGeom prst="rect">
            <a:avLst/>
          </a:prstGeom>
          <a:solidFill>
            <a:srgbClr val="1A0808"/>
          </a:solidFill>
          <a:ln w="12700">
            <a:solidFill>
              <a:srgbClr val="3A12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3.  Campaign_7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2560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74C3C"/>
                </a:solidFill>
              </a:rPr>
              <a:t>3.04x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999232"/>
            <a:ext cx="3931920" cy="384048"/>
          </a:xfrm>
          <a:prstGeom prst="rect">
            <a:avLst/>
          </a:prstGeom>
          <a:solidFill>
            <a:srgbClr val="1A0808"/>
          </a:solidFill>
          <a:ln w="12700">
            <a:solidFill>
              <a:srgbClr val="3A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9992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4.  Campaign_10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0" y="29992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74C3C"/>
                </a:solidFill>
              </a:rPr>
              <a:t>3.07x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438144"/>
            <a:ext cx="3931920" cy="384048"/>
          </a:xfrm>
          <a:prstGeom prst="rect">
            <a:avLst/>
          </a:prstGeom>
          <a:solidFill>
            <a:srgbClr val="1A0808"/>
          </a:solidFill>
          <a:ln w="12700">
            <a:solidFill>
              <a:srgbClr val="3A12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4381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5.  Campaign_11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9440" y="34381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74C3C"/>
                </a:solidFill>
              </a:rPr>
              <a:t>3.09x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096512"/>
            <a:ext cx="8229600" cy="237744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09651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</a:rPr>
              <a:t>📊  Overall ROAS 3.24x — 0.76x gap from 4x client target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370832"/>
            <a:ext cx="8229600" cy="237744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3708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98DB"/>
                </a:solidFill>
              </a:rPr>
              <a:t>📱  Facebook Ads led with 39.4% revenue share across all platforms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645152"/>
            <a:ext cx="8229600" cy="237744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64515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BC9C"/>
                </a:solidFill>
              </a:rPr>
              <a:t>🎯  High loan segment (501–750) = 3,300 conversions — best audience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5B12B-B301-7B93-7C88-7F5991F5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A1B669B-8302-F630-949B-7D7612B64C23}"/>
                  </a:ext>
                </a:extLst>
              </p14:cNvPr>
              <p14:cNvContentPartPr/>
              <p14:nvPr/>
            </p14:nvContentPartPr>
            <p14:xfrm>
              <a:off x="33693" y="1395347"/>
              <a:ext cx="360" cy="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A1B669B-8302-F630-949B-7D7612B64C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93" y="1377347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1" name="Picture 40">
            <a:extLst>
              <a:ext uri="{FF2B5EF4-FFF2-40B4-BE49-F238E27FC236}">
                <a16:creationId xmlns:a16="http://schemas.microsoft.com/office/drawing/2014/main" id="{4D79CCE0-4161-D35B-B551-778944BC70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503" y="913079"/>
            <a:ext cx="8359508" cy="410431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15E83A06-1476-AA0F-7DF4-7CA37D0FFCA0}"/>
              </a:ext>
            </a:extLst>
          </p:cNvPr>
          <p:cNvSpPr txBox="1"/>
          <p:nvPr/>
        </p:nvSpPr>
        <p:spPr>
          <a:xfrm>
            <a:off x="471714" y="268514"/>
            <a:ext cx="196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INSIGHTS</a:t>
            </a:r>
          </a:p>
        </p:txBody>
      </p:sp>
    </p:spTree>
    <p:extLst>
      <p:ext uri="{BB962C8B-B14F-4D97-AF65-F5344CB8AC3E}">
        <p14:creationId xmlns:p14="http://schemas.microsoft.com/office/powerpoint/2010/main" val="657847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37744"/>
          </a:xfrm>
          <a:prstGeom prst="rect">
            <a:avLst/>
          </a:prstGeom>
          <a:solidFill>
            <a:srgbClr val="2ECC71">
              <a:alpha val="18000"/>
            </a:srgbClr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C71"/>
                </a:solidFill>
              </a:rPr>
              <a:t>  ACTION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From Insights to Business Decisions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16736"/>
            <a:ext cx="2706624" cy="2706624"/>
          </a:xfrm>
          <a:prstGeom prst="rect">
            <a:avLst/>
          </a:prstGeom>
          <a:solidFill>
            <a:srgbClr val="1A0808"/>
          </a:solidFill>
          <a:ln w="12700">
            <a:solidFill>
              <a:srgbClr val="3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2706624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08176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</a:rPr>
              <a:t>❌  PAUSE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4C3C"/>
                </a:solidFill>
              </a:rPr>
              <a:t>Campaign_20  —  ROAS 2.56x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029968"/>
            <a:ext cx="2468880" cy="256032"/>
          </a:xfrm>
          <a:prstGeom prst="rect">
            <a:avLst/>
          </a:prstGeom>
          <a:solidFill>
            <a:srgbClr val="1A0808"/>
          </a:solidFill>
          <a:ln w="12700">
            <a:solidFill>
              <a:srgbClr val="3A12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4C3C"/>
                </a:solidFill>
              </a:rPr>
              <a:t>Campaign_14  —  ROAS 2.74x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5786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</a:rPr>
              <a:t>Combined waste: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8529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4C3C"/>
                </a:solidFill>
              </a:rPr>
              <a:t>$16,195 / month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4015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</a:rPr>
              <a:t>Action: Stop today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6758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</a:rPr>
              <a:t>Reallocate to winners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10128" y="1316736"/>
            <a:ext cx="2706624" cy="2706624"/>
          </a:xfrm>
          <a:prstGeom prst="rect">
            <a:avLst/>
          </a:prstGeom>
          <a:solidFill>
            <a:srgbClr val="0A2218"/>
          </a:solidFill>
          <a:ln w="12700">
            <a:solidFill>
              <a:srgbClr val="1A5C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0128" y="1316736"/>
            <a:ext cx="2706624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408176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</a:rPr>
              <a:t>🚀  SCALE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47288" y="1755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C71"/>
                </a:solidFill>
              </a:rPr>
              <a:t>Campaign_1   —  ROAS 3.76x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47288" y="20299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C71"/>
                </a:solidFill>
              </a:rPr>
              <a:t>Campaign_8   —  ROAS 3.65x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47288" y="2304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C71"/>
                </a:solidFill>
              </a:rPr>
              <a:t>Campaign_6   —  ROAS 3.56x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47288" y="28529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</a:rPr>
              <a:t>Budget increase: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47288" y="31272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C71"/>
                </a:solidFill>
              </a:rPr>
              <a:t>+25% on top 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47288" y="34015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C71"/>
                </a:solidFill>
              </a:rPr>
              <a:t>+15% on Camp_6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47288" y="36758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C71"/>
                </a:solidFill>
              </a:rPr>
              <a:t>Add $16K saved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316736"/>
            <a:ext cx="2706624" cy="2706624"/>
          </a:xfrm>
          <a:prstGeom prst="rect">
            <a:avLst/>
          </a:prstGeom>
          <a:solidFill>
            <a:srgbClr val="1A1208"/>
          </a:solidFill>
          <a:ln w="12700">
            <a:solidFill>
              <a:srgbClr val="3A2A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63056" y="1316736"/>
            <a:ext cx="2706624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1408176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</a:rPr>
              <a:t>📈  RESULT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0216" y="1755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</a:rPr>
              <a:t>Current ROAS:  3.24x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00216" y="20299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</a:rPr>
              <a:t>Projected ROAS: 4x+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0216" y="25786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</a:rPr>
              <a:t>Timeline: 30 days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0216" y="28529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39C12"/>
                </a:solidFill>
              </a:rPr>
              <a:t>Monthly saving: $16,195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0216" y="34015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</a:rPr>
              <a:t>Best audience: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0216" y="36758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9B8"/>
                </a:solidFill>
              </a:rPr>
              <a:t>High loan (501–750)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37744"/>
          </a:xfrm>
          <a:prstGeom prst="rect">
            <a:avLst/>
          </a:prstGeom>
          <a:solidFill>
            <a:srgbClr val="3498DB">
              <a:alpha val="18000"/>
            </a:srgbClr>
          </a:solidFill>
          <a:ln w="10160">
            <a:solidFill>
              <a:srgbClr val="3498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98DB"/>
                </a:solidFill>
              </a:rPr>
              <a:t>POWER BI DASHBOARD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From Excel Data to Interactive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16736"/>
            <a:ext cx="1554480" cy="658368"/>
          </a:xfrm>
          <a:prstGeom prst="rect">
            <a:avLst/>
          </a:prstGeom>
          <a:solidFill>
            <a:srgbClr val="112236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16736"/>
            <a:ext cx="155448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081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</a:rPr>
              <a:t>$552,177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9B8"/>
                </a:solidFill>
              </a:rPr>
              <a:t>Total Revenue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21408" y="1316736"/>
            <a:ext cx="1554480" cy="658368"/>
          </a:xfrm>
          <a:prstGeom prst="rect">
            <a:avLst/>
          </a:prstGeom>
          <a:solidFill>
            <a:srgbClr val="112236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21408" y="1316736"/>
            <a:ext cx="155448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1408" y="14081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4C3C"/>
                </a:solidFill>
              </a:rPr>
              <a:t>$170,173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21408" y="1719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9B8"/>
                </a:solidFill>
              </a:rPr>
              <a:t>Total Cost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85616" y="1316736"/>
            <a:ext cx="1554480" cy="658368"/>
          </a:xfrm>
          <a:prstGeom prst="rect">
            <a:avLst/>
          </a:prstGeom>
          <a:solidFill>
            <a:srgbClr val="112236"/>
          </a:solidFill>
          <a:ln w="12700">
            <a:solidFill>
              <a:srgbClr val="3498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85616" y="1316736"/>
            <a:ext cx="1554480" cy="6400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14081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98DB"/>
                </a:solidFill>
              </a:rPr>
              <a:t>3.24x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85616" y="1719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9B8"/>
                </a:solidFill>
              </a:rPr>
              <a:t>Overall ROAS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49824" y="1316736"/>
            <a:ext cx="1554480" cy="658368"/>
          </a:xfrm>
          <a:prstGeom prst="rect">
            <a:avLst/>
          </a:prstGeom>
          <a:solidFill>
            <a:srgbClr val="112236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9824" y="1316736"/>
            <a:ext cx="155448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14081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59B6"/>
                </a:solidFill>
              </a:rPr>
              <a:t>$382,003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9824" y="1719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9B8"/>
                </a:solidFill>
              </a:rPr>
              <a:t>Total Profit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114032" y="1316736"/>
            <a:ext cx="1554480" cy="658368"/>
          </a:xfrm>
          <a:prstGeom prst="rect">
            <a:avLst/>
          </a:prstGeom>
          <a:solidFill>
            <a:srgbClr val="112236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14032" y="1316736"/>
            <a:ext cx="155448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14081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C12"/>
                </a:solidFill>
              </a:rPr>
              <a:t>9,955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14032" y="1719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9B8"/>
                </a:solidFill>
              </a:rPr>
              <a:t>Conversions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103120"/>
            <a:ext cx="8229600" cy="420624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6" name="Shape 24"/>
          <p:cNvSpPr/>
          <p:nvPr/>
        </p:nvSpPr>
        <p:spPr>
          <a:xfrm>
            <a:off x="457200" y="2103120"/>
            <a:ext cx="64008" cy="42062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13055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chemeClr val="bg1"/>
                </a:solidFill>
              </a:rPr>
              <a:t>Track overall performance in one view</a:t>
            </a:r>
          </a:p>
        </p:txBody>
      </p:sp>
      <p:sp>
        <p:nvSpPr>
          <p:cNvPr id="28" name="Text 26"/>
          <p:cNvSpPr/>
          <p:nvPr/>
        </p:nvSpPr>
        <p:spPr>
          <a:xfrm>
            <a:off x="594360" y="2340864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2578608"/>
            <a:ext cx="8229600" cy="420624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2578608"/>
            <a:ext cx="64008" cy="42062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26060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50" b="1" dirty="0">
                <a:solidFill>
                  <a:schemeClr val="bg1"/>
                </a:solidFill>
              </a:rPr>
              <a:t>Compare campaign efficiency instantly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7200" y="3054096"/>
            <a:ext cx="8229600" cy="420624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054096"/>
            <a:ext cx="64008" cy="42062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0815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chemeClr val="bg1"/>
                </a:solidFill>
              </a:rPr>
              <a:t>Identify high vs low ROI campaigns</a:t>
            </a:r>
          </a:p>
        </p:txBody>
      </p:sp>
      <p:sp>
        <p:nvSpPr>
          <p:cNvPr id="37" name="Shape 35"/>
          <p:cNvSpPr/>
          <p:nvPr/>
        </p:nvSpPr>
        <p:spPr>
          <a:xfrm>
            <a:off x="457200" y="3529584"/>
            <a:ext cx="8229600" cy="420624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3529584"/>
            <a:ext cx="64008" cy="42062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355701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50" b="1" dirty="0" err="1">
                <a:solidFill>
                  <a:schemeClr val="bg1"/>
                </a:solidFill>
              </a:rPr>
              <a:t>Analyze</a:t>
            </a:r>
            <a:r>
              <a:rPr lang="en-IN" sz="1050" b="1" dirty="0">
                <a:solidFill>
                  <a:schemeClr val="bg1"/>
                </a:solidFill>
              </a:rPr>
              <a:t> platform contribution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57200" y="4096512"/>
            <a:ext cx="8229600" cy="402336"/>
          </a:xfrm>
          <a:prstGeom prst="rect">
            <a:avLst/>
          </a:prstGeom>
          <a:solidFill>
            <a:srgbClr val="0A1A2E"/>
          </a:solidFill>
          <a:ln w="1016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2" name="Text 40"/>
          <p:cNvSpPr/>
          <p:nvPr/>
        </p:nvSpPr>
        <p:spPr>
          <a:xfrm>
            <a:off x="594360" y="4206240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From data to decisions — see the dashboard in the next post</a:t>
            </a: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DA328B9D-9CDA-7E5E-5F51-195584436FD1}"/>
              </a:ext>
            </a:extLst>
          </p:cNvPr>
          <p:cNvSpPr/>
          <p:nvPr/>
        </p:nvSpPr>
        <p:spPr>
          <a:xfrm>
            <a:off x="7166185" y="4135120"/>
            <a:ext cx="1334347" cy="325120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Words>802</Words>
  <Application>Microsoft Office PowerPoint</Application>
  <PresentationFormat>On-screen Show (16:9)</PresentationFormat>
  <Paragraphs>175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Bahnschrift SemiBold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Marketing Analytics Project</dc:title>
  <dc:subject>PptxGenJS Presentation</dc:subject>
  <dc:creator>Sahil Soni</dc:creator>
  <cp:lastModifiedBy>Sahil Soni</cp:lastModifiedBy>
  <cp:revision>3</cp:revision>
  <dcterms:created xsi:type="dcterms:W3CDTF">2026-05-03T12:07:51Z</dcterms:created>
  <dcterms:modified xsi:type="dcterms:W3CDTF">2026-05-06T19:58:13Z</dcterms:modified>
</cp:coreProperties>
</file>